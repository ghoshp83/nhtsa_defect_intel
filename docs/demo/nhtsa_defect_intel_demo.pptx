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 i="0">
                <a:solidFill>
                  <a:srgbClr val="1A237E"/>
                </a:solidFill>
              </a:rPr>
              <a:t>NHTSA Defect Intelligence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555555"/>
                </a:solidFill>
              </a:rPr>
              <a:t>An agentic assistant over 10M+ U.S. vehicle-defect records — recalls, complaints, investigations, SGO AV crashes, TSBs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A237E"/>
                </a:solidFill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212121"/>
                </a:solidFill>
              </a:rPr>
              <a:t>One chat surface that joins structured NHTSA fact tables with the free-text narratives behind them, so analysts can ask cross-corpus questions in English and get cited, traceable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237E"/>
                </a:solidFill>
              </a:rPr>
              <a:t>Who uses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5486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212121"/>
                </a:solidFill>
              </a:rPr>
              <a:t>•  OEM quality teams — how do our recall patterns compare to peers?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12121"/>
                </a:solidFill>
              </a:rPr>
              <a:t>•  Regulatory analysts — what themes are emerging in 2024 ADAS complaints?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12121"/>
                </a:solidFill>
              </a:rPr>
              <a:t>•  Safety journalists / researchers — what did NHTSA do about phantom braking?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12121"/>
                </a:solidFill>
              </a:rPr>
              <a:t>•  Reliability engineers — component-level trend spotting across OEMs.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8308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A237E"/>
                </a:solidFill>
              </a:rPr>
              <a:t>Example — multi-turn, cited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577840" cy="173736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54000" bIns="5400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A237E"/>
                </a:solidFill>
              </a:rPr>
              <a:t>User: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12121"/>
                </a:solidFill>
              </a:rPr>
              <a:t>  Describe common complaint patterns for ADAS lane-keep assist nuisance activations across OEMs.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A237E"/>
                </a:solidFill>
              </a:rPr>
              <a:t>Agent: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12121"/>
                </a:solidFill>
              </a:rPr>
              <a:t>  [3 patterns across Honda / Toyota / Subaru / GM, with 6 ODI IDs cited]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A237E"/>
                </a:solidFill>
              </a:rPr>
              <a:t>User: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12121"/>
                </a:solidFill>
              </a:rPr>
              <a:t>  Narrow that to Honda and Toyota only.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A237E"/>
                </a:solidFill>
              </a:rPr>
              <a:t>Agent: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12121"/>
                </a:solidFill>
              </a:rPr>
              <a:t>  [same frame, only the two OEMs — session memory held the prior context]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0233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237E"/>
                </a:solidFill>
              </a:rPr>
              <a:t>Four things to 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389120"/>
            <a:ext cx="5577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212121"/>
                </a:solidFill>
              </a:rPr>
              <a:t>•  Cross-corpus — a single question can hit SQL and semantic search in parallel.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12121"/>
                </a:solidFill>
              </a:rPr>
              <a:t>•  Always cited — every claim carries a campaign / ODI / TSB ID inline.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12121"/>
                </a:solidFill>
              </a:rPr>
              <a:t>•  Stateful — Lakebase Postgres holds session + accumulated filters across turns.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12121"/>
                </a:solidFill>
              </a:rPr>
              <a:t>•  Production-graded — Mosaic AI serving, MLflow auto-trace, hourly LLM-judge scoring, live dashboard.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1A237E"/>
                </a:solidFill>
              </a:rPr>
              <a:t>Architecture — offline pipeline · runtime query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555555"/>
                </a:solidFill>
              </a:rPr>
              <a:t>A · Offline data pipeline (runs on schedule)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286000" cy="868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12121"/>
                </a:solidFill>
              </a:rPr>
              <a:t>NHTSA open data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recalls · complaints · investigations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SGO AV crashes · TSB PDFs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52928" y="1188720"/>
            <a:ext cx="2286000" cy="868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12121"/>
                </a:solidFill>
              </a:rPr>
              <a:t>Bronze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raw append-only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PDFs in UC Volume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0096" y="1188720"/>
            <a:ext cx="2286000" cy="868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12121"/>
                </a:solidFill>
              </a:rPr>
              <a:t>Silver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typed · deduped · PII-scrubbed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ai_parse_document on PDFs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27264" y="1188720"/>
            <a:ext cx="2286000" cy="868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12121"/>
                </a:solidFill>
              </a:rPr>
              <a:t>Gold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star schema + narrative chunks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3 fact · 4 dim · 1 chunk table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1623060"/>
            <a:ext cx="201168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38928" y="1623060"/>
            <a:ext cx="201168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26096" y="1623060"/>
            <a:ext cx="201168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555555"/>
                </a:solidFill>
              </a:rPr>
              <a:t>Retrieval surfaces — exactly 4 tools (narrow by design)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560320"/>
            <a:ext cx="2743200" cy="777240"/>
          </a:xfrm>
          <a:prstGeom prst="roundRect">
            <a:avLst/>
          </a:prstGeom>
          <a:solidFill>
            <a:srgbClr val="FCE4EC"/>
          </a:solidFill>
          <a:ln w="15875">
            <a:solidFill>
              <a:srgbClr val="C21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12121"/>
                </a:solidFill>
              </a:rPr>
              <a:t>🛠  genie_recalls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Genie over gold fact tables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counts · trends · rankings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8688" y="2560320"/>
            <a:ext cx="2743200" cy="777240"/>
          </a:xfrm>
          <a:prstGeom prst="roundRect">
            <a:avLst/>
          </a:prstGeom>
          <a:solidFill>
            <a:srgbClr val="FCE4EC"/>
          </a:solidFill>
          <a:ln w="15875">
            <a:solidFill>
              <a:srgbClr val="C21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12121"/>
                </a:solidFill>
              </a:rPr>
              <a:t>🛠  vector_search_narrative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VS index on gold_narrative_chunks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complaints · TSBs · investigations · SGO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2560320"/>
            <a:ext cx="2743200" cy="777240"/>
          </a:xfrm>
          <a:prstGeom prst="roundRect">
            <a:avLst/>
          </a:prstGeom>
          <a:solidFill>
            <a:srgbClr val="FCE4EC"/>
          </a:solidFill>
          <a:ln w="15875">
            <a:solidFill>
              <a:srgbClr val="C21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12121"/>
                </a:solidFill>
              </a:rPr>
              <a:t>🛠  fetch_tsb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UC function · 1 TSB by item number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2560320"/>
            <a:ext cx="2743200" cy="777240"/>
          </a:xfrm>
          <a:prstGeom prst="roundRect">
            <a:avLst/>
          </a:prstGeom>
          <a:solidFill>
            <a:srgbClr val="FCE4EC"/>
          </a:solidFill>
          <a:ln w="15875">
            <a:solidFill>
              <a:srgbClr val="C218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12121"/>
                </a:solidFill>
              </a:rPr>
              <a:t>🛠  fetch_investigation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UC function · 1 case file by action number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737360" y="2057400"/>
            <a:ext cx="7232904" cy="502920"/>
          </a:xfrm>
          <a:prstGeom prst="line">
            <a:avLst/>
          </a:prstGeom>
          <a:ln w="22225">
            <a:solidFill>
              <a:srgbClr val="555555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590288" y="2057400"/>
            <a:ext cx="4379976" cy="502920"/>
          </a:xfrm>
          <a:prstGeom prst="line">
            <a:avLst/>
          </a:prstGeom>
          <a:ln w="22225">
            <a:solidFill>
              <a:srgbClr val="555555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83096" y="2057400"/>
            <a:ext cx="960120" cy="502920"/>
          </a:xfrm>
          <a:prstGeom prst="line">
            <a:avLst/>
          </a:prstGeom>
          <a:ln w="22225">
            <a:solidFill>
              <a:srgbClr val="555555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83096" y="2057400"/>
            <a:ext cx="3813048" cy="502920"/>
          </a:xfrm>
          <a:prstGeom prst="line">
            <a:avLst/>
          </a:prstGeom>
          <a:ln w="22225">
            <a:solidFill>
              <a:srgbClr val="555555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361188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555555"/>
                </a:solidFill>
              </a:rPr>
              <a:t>B · Runtime query flow (every chat turn)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977639"/>
            <a:ext cx="2194560" cy="731520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12121"/>
                </a:solidFill>
              </a:rPr>
              <a:t>👤  Analyst /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regulator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977639"/>
            <a:ext cx="2194560" cy="73152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212121"/>
                </a:solidFill>
              </a:rPr>
              <a:t>Review App</a:t>
            </a:r>
          </a:p>
          <a:p>
            <a:pPr algn="ctr"/>
            <a:r>
              <a:rPr sz="1000" b="0">
                <a:solidFill>
                  <a:srgbClr val="212121"/>
                </a:solidFill>
              </a:rPr>
              <a:t>chat 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3977639"/>
            <a:ext cx="2194560" cy="73152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12121"/>
                </a:solidFill>
              </a:rPr>
              <a:t>Mosaic AI endpoint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nhtsa-agent-endpoint-dev-pg · v5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977639"/>
            <a:ext cx="2194560" cy="731520"/>
          </a:xfrm>
          <a:prstGeom prst="roundRect">
            <a:avLst/>
          </a:prstGeom>
          <a:solidFill>
            <a:srgbClr val="EDE7F6"/>
          </a:solidFill>
          <a:ln w="15875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12121"/>
                </a:solidFill>
              </a:rPr>
              <a:t>NhtsaResponsesAgent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Llama-4-Maverick · temp 0.2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60320" y="4343399"/>
            <a:ext cx="2286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83480" y="4343399"/>
            <a:ext cx="2286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06640" y="4343399"/>
            <a:ext cx="2286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646920" y="3383280"/>
            <a:ext cx="0" cy="594359"/>
          </a:xfrm>
          <a:prstGeom prst="line">
            <a:avLst/>
          </a:prstGeom>
          <a:ln w="22225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75320" y="368503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C62828"/>
                </a:solidFill>
              </a:rPr>
              <a:t>dispatch → parallel tool calls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5029199"/>
            <a:ext cx="4297680" cy="731520"/>
          </a:xfrm>
          <a:prstGeom prst="roundRect">
            <a:avLst/>
          </a:prstGeom>
          <a:solidFill>
            <a:srgbClr val="FFF3E0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12121"/>
                </a:solidFill>
              </a:rPr>
              <a:t>🗂  Lakebase Postgres  ·  agent_sessions + agent_turns  ·  accumulated_filters JSONB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943600" y="4709159"/>
            <a:ext cx="265176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217920" y="4709159"/>
            <a:ext cx="265176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51206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E65100"/>
                </a:solidFill>
              </a:rPr>
              <a:t>read prior context ↔ write turn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43599"/>
            <a:ext cx="2741599" cy="640080"/>
          </a:xfrm>
          <a:prstGeom prst="roundRect">
            <a:avLst/>
          </a:prstGeom>
          <a:solidFill>
            <a:srgbClr val="E0F2F1"/>
          </a:solidFill>
          <a:ln w="1587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12121"/>
                </a:solidFill>
              </a:rPr>
              <a:t>MLflow traces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trace_logs_&lt;exp_id&gt;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71951" y="5943599"/>
            <a:ext cx="2741599" cy="640080"/>
          </a:xfrm>
          <a:prstGeom prst="roundRect">
            <a:avLst/>
          </a:prstGeom>
          <a:solidFill>
            <a:srgbClr val="E0F2F1"/>
          </a:solidFill>
          <a:ln w="1587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12121"/>
                </a:solidFill>
              </a:rPr>
              <a:t>Hourly evaluate job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3 cheap + 3 Guidelines scorers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8143" y="5943599"/>
            <a:ext cx="2741599" cy="640080"/>
          </a:xfrm>
          <a:prstGeom prst="roundRect">
            <a:avLst/>
          </a:prstGeom>
          <a:solidFill>
            <a:srgbClr val="E0F2F1"/>
          </a:solidFill>
          <a:ln w="1587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12121"/>
                </a:solidFill>
              </a:rPr>
              <a:t>Aggregated view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nhtsa_traces_aggregated_pg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84335" y="5943599"/>
            <a:ext cx="2741599" cy="640080"/>
          </a:xfrm>
          <a:prstGeom prst="roundRect">
            <a:avLst/>
          </a:prstGeom>
          <a:solidFill>
            <a:srgbClr val="E0F2F1"/>
          </a:solidFill>
          <a:ln w="15875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212121"/>
                </a:solidFill>
              </a:rPr>
              <a:t>📊 Monitoring Dashboard</a:t>
            </a:r>
          </a:p>
          <a:p>
            <a:pPr algn="ctr"/>
            <a:r>
              <a:rPr sz="900" b="0">
                <a:solidFill>
                  <a:srgbClr val="212121"/>
                </a:solidFill>
              </a:rPr>
              <a:t>latency · tool mix · judge pass rate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107359" y="6263639"/>
            <a:ext cx="164592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13550" y="6263639"/>
            <a:ext cx="164593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19742" y="6263639"/>
            <a:ext cx="164593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736559" y="4709159"/>
            <a:ext cx="4572801" cy="1234440"/>
          </a:xfrm>
          <a:prstGeom prst="line">
            <a:avLst/>
          </a:prstGeom>
          <a:ln w="19050">
            <a:solidFill>
              <a:srgbClr val="555555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12080" y="472744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00695C"/>
                </a:solidFill>
              </a:rPr>
              <a:t>auto-trace per turn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1A237E"/>
                </a:solidFill>
              </a:rPr>
              <a:t>Dataset  ·  Agent logic  ·  What I did differently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3794760" cy="5852160"/>
          </a:xfrm>
          <a:prstGeom prst="roundRect">
            <a:avLst/>
          </a:prstGeom>
          <a:solidFill>
            <a:srgbClr val="FFFDE7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9A825"/>
                </a:solidFill>
              </a:rPr>
              <a:t>Dataset &amp;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4290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9A825"/>
                </a:solidFill>
              </a:rPr>
              <a:t>Domain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U.S. vehicle-defect intelligence — the only public, authoritative source for recalls, consumer complaints, open investigations, SGO autonomous-vehicle crash reports, and manufacturer TSBs.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F9A825"/>
                </a:solidFill>
              </a:rPr>
              <a:t>Why an agent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Every question is a mix of quantitative (how many), qualitative (what kinds), and document-level (what did the agency do). Single-tool RAG or text-to-SQL alone cannot answer these.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F9A825"/>
                </a:solidFill>
              </a:rPr>
              <a:t>Scale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~10M rows in Silver; 350K narrative chunks in the vector index; 5 disparate feeds with different schemas and cadences.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F9A825"/>
                </a:solidFill>
              </a:rPr>
              <a:t>Data challenges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PDFs for TSBs + investigations (ai_parse_document); TSBs split into 5-year ZIPs after 2024 rewrite; SGO direct-URL workaround; PII scrubbing in narratives; component-code + make/model normalisation via an in-repo taxonomy.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F9A825"/>
                </a:solidFill>
              </a:rPr>
              <a:t>Citable IDs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Campaign #, ODI #, PE/EA #, TSB # — every answer must carry them inline. Gives a crisp, testable evaluation target.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868680"/>
            <a:ext cx="3794760" cy="5852160"/>
          </a:xfrm>
          <a:prstGeom prst="roundRect">
            <a:avLst/>
          </a:prstGeom>
          <a:solidFill>
            <a:srgbClr val="F3EFFB"/>
          </a:solidFill>
          <a:ln w="15875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96012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4527A0"/>
                </a:solidFill>
              </a:rPr>
              <a:t>Agent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463040"/>
            <a:ext cx="34290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4527A0"/>
                </a:solidFill>
              </a:rPr>
              <a:t>Four tools, narrow on purpose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genie_recalls (Genie over star schema) · vector_search_narrative (VS over narrative chunks, with metadata filters) · fetch_tsb · fetch_investigation (UC functions).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4527A0"/>
                </a:solidFill>
              </a:rPr>
              <a:t>Routing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System prompt enumerates intent → tool mapping explicitly. 'How many / top N / trends' → Genie. 'What kinds / themes / examples' → Vector Search. Specific ID → fetch_*.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4527A0"/>
                </a:solidFill>
              </a:rPr>
              <a:t>Agent surface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mlflow.pyfunc.ResponsesAgent subclass. MLflow auto-traces every turn + tool + LLM span. Parallel tool calls enabled for independent sub-questions.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4527A0"/>
                </a:solidFill>
              </a:rPr>
              <a:t>Memory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Lakebase Postgres (Projects API) keyed by UUID session_id. Each turn merges refinements into an accumulated_filters JSONB and passes them into tool calls.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4527A0"/>
                </a:solidFill>
              </a:rPr>
              <a:t>Live demo (3 queries)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Q2: phantom-braking — parallel Genie + VS.  Q4: lane-keep across OEMs — pure synthesis.  Q5: 'narrow to Honda and Toyota' — session-memory refinement.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868680"/>
            <a:ext cx="3794760" cy="585216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96012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62828"/>
                </a:solidFill>
              </a:rPr>
              <a:t>What I did differently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63040"/>
            <a:ext cx="34290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62828"/>
                </a:solidFill>
              </a:rPr>
              <a:t>Data &amp; tuning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Chunk 800/overlap 100 (TSBs are procedural); temp 0.2 not 0.7 (defect answers must be factual); top-K 8 not 5 (themes need more evidence).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C62828"/>
                </a:solidFill>
              </a:rPr>
              <a:t>Three-tier eval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Tier-1 deterministic scalar match (25 Qs) · Tier-2 citation-grounded (25 Qs, agent must surface a specific ID) · Tier-3 synthesis 5-point rubric (25 Qs, pass at 3.5).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C62828"/>
                </a:solidFill>
              </a:rPr>
              <a:t>Scorer split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3 cheap heuristics on every trace (cite_id_present, mentions_oem, word_count_under) + 3 Guidelines LLM judges (factual_defect, cite_every_claim, stays_in_scope) on a 10% sample. Cheap catches regressions; judges catch style drift.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C62828"/>
                </a:solidFill>
              </a:rPr>
              <a:t>Infrastructure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Lakebase via the new Projects/PostgresAPI — no MLflow auto-grant, so we reuse dev_SPN + pg_api.create_role + env-var injection at deploy time. project_config.yml shipped inside the model artifact via code_paths with a __file__-based fallback resolver.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C62828"/>
                </a:solidFill>
              </a:rPr>
              <a:t>Top 3 challenges solved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12121"/>
                </a:solidFill>
              </a:rPr>
              <a:t>(1) Serving-pod Lakebase auth via dev_SPN + {{secrets/…}} env vars.  (2) trace_logs.response is VARIANT, not STRING — CAST first.  (3) Cheap scorers store true/false, Guidelines judges store JSON-quoted "yes"/"no" — view CASE must match '"yes"', not 'Pass'.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